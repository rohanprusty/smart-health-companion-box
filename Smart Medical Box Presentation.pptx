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3F611-7FB5-4155-9DD2-EE4465B61513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48DECD-BE95-4F5D-9871-0297A20B72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440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8DECD-BE95-4F5D-9871-0297A20B720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225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3.pn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jpeg"/><Relationship Id="rId4" Type="http://schemas.openxmlformats.org/officeDocument/2006/relationships/image" Target="../media/image14.png"/><Relationship Id="rId9" Type="http://schemas.openxmlformats.org/officeDocument/2006/relationships/image" Target="../media/image1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CF521AE-D4CC-A5E9-7EEB-4CF56DE164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/>
        </p:blipFill>
        <p:spPr>
          <a:xfrm>
            <a:off x="0" y="50310"/>
            <a:ext cx="5068034" cy="67573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54170" y="337115"/>
            <a:ext cx="5395519" cy="1473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 dirty="0">
                <a:solidFill>
                  <a:srgbClr val="0F172A"/>
                </a:solidFill>
                <a:latin typeface="Poppins"/>
              </a:rPr>
              <a:t>Smart </a:t>
            </a:r>
            <a:r>
              <a:rPr lang="en-IN" sz="4800" b="1" dirty="0">
                <a:solidFill>
                  <a:srgbClr val="0F172A"/>
                </a:solidFill>
                <a:latin typeface="Poppins"/>
              </a:rPr>
              <a:t>Health</a:t>
            </a:r>
            <a:r>
              <a:rPr sz="4800" b="1" i="0" u="none" dirty="0">
                <a:solidFill>
                  <a:srgbClr val="0F172A"/>
                </a:solidFill>
                <a:latin typeface="Poppins"/>
              </a:rPr>
              <a:t> </a:t>
            </a:r>
            <a:r>
              <a:rPr lang="en-IN" sz="4800" b="1" i="0" u="none" dirty="0">
                <a:solidFill>
                  <a:srgbClr val="0F172A"/>
                </a:solidFill>
                <a:latin typeface="Poppins"/>
              </a:rPr>
              <a:t>Companion </a:t>
            </a:r>
            <a:r>
              <a:rPr sz="4800" b="1" i="0" u="none" dirty="0">
                <a:solidFill>
                  <a:srgbClr val="0284C7"/>
                </a:solidFill>
                <a:latin typeface="Poppins"/>
              </a:rPr>
              <a:t>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94823" y="1908343"/>
            <a:ext cx="6962775" cy="339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i="0" u="none" dirty="0">
                <a:solidFill>
                  <a:schemeClr val="tx2">
                    <a:lumMod val="50000"/>
                  </a:schemeClr>
                </a:solidFill>
                <a:latin typeface="Inter"/>
              </a:rPr>
              <a:t>An Automated Medication Reminder &amp; Dispensing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0E075D-1C3D-CDF4-028E-8DD1D9591552}"/>
              </a:ext>
            </a:extLst>
          </p:cNvPr>
          <p:cNvSpPr txBox="1"/>
          <p:nvPr/>
        </p:nvSpPr>
        <p:spPr>
          <a:xfrm>
            <a:off x="2186979" y="6259275"/>
            <a:ext cx="108591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dirty="0">
                <a:highlight>
                  <a:srgbClr val="FFFF00"/>
                </a:highlight>
              </a:rPr>
              <a:t>"</a:t>
            </a:r>
            <a:r>
              <a:rPr lang="en-IN" sz="2400" dirty="0">
                <a:highlight>
                  <a:srgbClr val="FFFF00"/>
                </a:highlight>
              </a:rPr>
              <a:t>One missed dose can cost your health  </a:t>
            </a:r>
            <a:r>
              <a:rPr lang="en-IN" dirty="0">
                <a:highlight>
                  <a:srgbClr val="FFFF00"/>
                </a:highlight>
              </a:rPr>
              <a:t>. </a:t>
            </a:r>
            <a:r>
              <a:rPr lang="en-IN" sz="2400" dirty="0">
                <a:highlight>
                  <a:srgbClr val="FFFF00"/>
                </a:highlight>
              </a:rPr>
              <a:t>One smart reminder can </a:t>
            </a:r>
            <a:r>
              <a:rPr lang="en-IN" sz="2800" dirty="0">
                <a:highlight>
                  <a:srgbClr val="FFFF00"/>
                </a:highlight>
              </a:rPr>
              <a:t>protect</a:t>
            </a:r>
            <a:r>
              <a:rPr lang="en-IN" dirty="0">
                <a:highlight>
                  <a:srgbClr val="FFFF00"/>
                </a:highlight>
              </a:rPr>
              <a:t> </a:t>
            </a:r>
            <a:r>
              <a:rPr lang="en-IN" sz="2400" dirty="0">
                <a:highlight>
                  <a:srgbClr val="FFFF00"/>
                </a:highlight>
              </a:rPr>
              <a:t>it</a:t>
            </a:r>
            <a:r>
              <a:rPr lang="en-IN" dirty="0">
                <a:highlight>
                  <a:srgbClr val="FFFF00"/>
                </a:highlight>
              </a:rPr>
              <a:t>."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8F202D-DE6F-DB97-AEBF-96D4822832D1}"/>
              </a:ext>
            </a:extLst>
          </p:cNvPr>
          <p:cNvSpPr txBox="1"/>
          <p:nvPr/>
        </p:nvSpPr>
        <p:spPr>
          <a:xfrm>
            <a:off x="149201" y="967239"/>
            <a:ext cx="40755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SAARTHI (</a:t>
            </a:r>
            <a:r>
              <a:rPr lang="en-IN" sz="32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सारथि</a:t>
            </a:r>
            <a:r>
              <a:rPr lang="en-IN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)</a:t>
            </a:r>
            <a:endParaRPr lang="en-IN" dirty="0">
              <a:solidFill>
                <a:schemeClr val="accent2">
                  <a:lumMod val="40000"/>
                  <a:lumOff val="6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37CD12C-248D-70EB-F9B9-E04565D13A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648" b="17754"/>
          <a:stretch>
            <a:fillRect/>
          </a:stretch>
        </p:blipFill>
        <p:spPr>
          <a:xfrm>
            <a:off x="5324354" y="2516344"/>
            <a:ext cx="6771189" cy="36933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2" y="2245490"/>
            <a:ext cx="5698728" cy="309803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1773" y="2245490"/>
            <a:ext cx="5698727" cy="30980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819400"/>
            <a:ext cx="571500" cy="57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581400"/>
            <a:ext cx="488061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>
                <a:solidFill>
                  <a:srgbClr val="0F172A"/>
                </a:solidFill>
                <a:latin typeface="Poppins SemiBold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990975"/>
            <a:ext cx="4648200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1" i="0" u="none" dirty="0">
                <a:solidFill>
                  <a:srgbClr val="475569"/>
                </a:solidFill>
                <a:latin typeface="Inter"/>
              </a:rPr>
              <a:t>Patients frequently forget to take medications on time, leading to poor health outcomes.</a:t>
            </a:r>
            <a:endParaRPr lang="en-IN" sz="1600" b="1" i="0" u="none" dirty="0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ts val="1800"/>
              </a:lnSpc>
            </a:pPr>
            <a:endParaRPr lang="en-IN" sz="1600" b="1" i="0" u="none" dirty="0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600" b="1" i="0" u="none" dirty="0">
                <a:solidFill>
                  <a:srgbClr val="475569"/>
                </a:solidFill>
                <a:latin typeface="Inter"/>
              </a:rPr>
              <a:t>Caregivers lack real-time visibility into whether doses were taken or missed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025" y="2819400"/>
            <a:ext cx="571500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7025" y="3581400"/>
            <a:ext cx="488061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>
                <a:solidFill>
                  <a:srgbClr val="0F172A"/>
                </a:solidFill>
                <a:latin typeface="Poppins SemiBold"/>
              </a:rPr>
              <a:t>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3990975"/>
            <a:ext cx="4648200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1" i="0" u="none" dirty="0">
                <a:solidFill>
                  <a:srgbClr val="475569"/>
                </a:solidFill>
                <a:latin typeface="Inter"/>
              </a:rPr>
              <a:t>An IoT-enabled medical box that alerts patients precisely at dosage times via alarms and displays. </a:t>
            </a:r>
            <a:endParaRPr lang="en-IN" sz="1600" b="1" i="0" u="none" dirty="0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ts val="1800"/>
              </a:lnSpc>
            </a:pPr>
            <a:endParaRPr lang="en-IN" sz="1200" b="0" i="0" u="none" dirty="0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ts val="1800"/>
              </a:lnSpc>
            </a:pPr>
            <a:r>
              <a:rPr sz="1600" b="1" i="0" u="none" dirty="0">
                <a:solidFill>
                  <a:srgbClr val="475569"/>
                </a:solidFill>
                <a:latin typeface="Inter"/>
              </a:rPr>
              <a:t>It connects to the Blynk app, allowing caregivers to manage schedules and monitor compliance remotely.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175" y="2971800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2762" y="2971800"/>
            <a:ext cx="200025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0284C7"/>
                </a:solidFill>
                <a:latin typeface="Poppins SemiBold"/>
              </a:rPr>
              <a:t>The Problem &amp; Our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883617"/>
              </p:ext>
            </p:extLst>
          </p:nvPr>
        </p:nvGraphicFramePr>
        <p:xfrm>
          <a:off x="571500" y="2066180"/>
          <a:ext cx="11048998" cy="38972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9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7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2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744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 SemiBold"/>
                        </a:rPr>
                        <a:t>Component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 SemiBold"/>
                        </a:rPr>
                        <a:t>Function in Project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 SemiBold"/>
                        </a:rPr>
                        <a:t>Connection / Pin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744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NodeMCU ESP8266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Main microcontroller &amp; WiFi IoT brain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Central Hub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744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16x2 LCD (with I2C)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Displays Date, Time, and Next Medicine info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D1 (SCL), D2 (SDA)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744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SG90 Servo Motor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Acts as a locking mechanism for the lid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D7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744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Push Button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Acknowledges dose &amp; toggles lid open/close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D6 (Input Pullup)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744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Active Buzzer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Audible alarm when medication is due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D5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6749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LED Light Strip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Illuminates the internal compartments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D8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609998"/>
            <a:ext cx="28092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380779" y="2609998"/>
            <a:ext cx="55172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897987" y="2609998"/>
            <a:ext cx="27225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3168104"/>
            <a:ext cx="28092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80779" y="3168104"/>
            <a:ext cx="55172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897987" y="3168104"/>
            <a:ext cx="27225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726209"/>
            <a:ext cx="28092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0779" y="3726209"/>
            <a:ext cx="55172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97987" y="3726209"/>
            <a:ext cx="27225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284315"/>
            <a:ext cx="28092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80779" y="4284315"/>
            <a:ext cx="55172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897987" y="4284315"/>
            <a:ext cx="27225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4842420"/>
            <a:ext cx="28092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80779" y="4842420"/>
            <a:ext cx="55172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97987" y="4842420"/>
            <a:ext cx="27225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5400526"/>
            <a:ext cx="28092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380779" y="5400526"/>
            <a:ext cx="55172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97987" y="5400526"/>
            <a:ext cx="27225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0284C7"/>
                </a:solidFill>
                <a:latin typeface="Poppins SemiBold"/>
              </a:rPr>
              <a:t>Hardware Components (BOM)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709612"/>
            <a:ext cx="4950618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0284C7"/>
                </a:solidFill>
                <a:latin typeface="Poppins SemiBold"/>
              </a:rPr>
              <a:t>Exterior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1500187"/>
            <a:ext cx="43338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Information Display:</a:t>
            </a:r>
            <a:r>
              <a:t>
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The 16x2 LCD provides continuous updates. It toggles between the current time/date and the name/time of the </a:t>
            </a:r>
            <a:r>
              <a:rPr sz="1500" b="0" i="1" u="none">
                <a:solidFill>
                  <a:srgbClr val="475569"/>
                </a:solidFill>
                <a:latin typeface="Inter"/>
              </a:rPr>
              <a:t>next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scheduled medicine.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947987"/>
            <a:ext cx="4333875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Interactive Button:</a:t>
            </a:r>
            <a:r>
              <a:t>
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A single red push button serves a dual purpose. It silences the alarm to confirm a dose is taken, and triggers the servo to open the lid.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4700587"/>
            <a:ext cx="43338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Secure Locking:</a:t>
            </a:r>
            <a:r>
              <a:t>
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The blue SG90 Servo motor acts as a physical latch, keeping the box closed until the correct time or user intervention.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38287"/>
            <a:ext cx="25717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86087"/>
            <a:ext cx="20002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38687"/>
            <a:ext cx="200025" cy="2476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46340D-8CE8-FEF5-6AAD-5D12A3DCE1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6375" y="865469"/>
            <a:ext cx="6770577" cy="52829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05625" y="571500"/>
            <a:ext cx="4950618" cy="1200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0284C7"/>
                </a:solidFill>
                <a:latin typeface="Poppins SemiBold"/>
              </a:rPr>
              <a:t>Internal Compartments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86625" y="1962150"/>
            <a:ext cx="43338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Organized Storage:</a:t>
            </a:r>
            <a:r>
              <a:t>
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The interior is divided into 6 spacious compartments, allowing for the segregation of different pills, capsules, or daily doses.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86625" y="3409950"/>
            <a:ext cx="4333875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Safe &amp; Clean:</a:t>
            </a:r>
            <a:r>
              <a:t>
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The physical separation prevents cross-contamination of medicines and makes it easier for elderly patients to pick the correct pill.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86625" y="5162550"/>
            <a:ext cx="43338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0F172A"/>
                </a:solidFill>
                <a:latin typeface="Inter"/>
              </a:rPr>
              <a:t>App Synchronization:</a:t>
            </a:r>
            <a:r>
              <a:rPr dirty="0"/>
              <a:t>
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The physical pill counts in these compartments are tracked digitally in the Blynk IoT app, ensuring inventory is monitored.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625" y="2000250"/>
            <a:ext cx="25717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5625" y="3448050"/>
            <a:ext cx="2286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5625" y="5200650"/>
            <a:ext cx="171450" cy="2476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245F1B2-549C-F4AD-CFE5-FAFA4FC885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5712" y="3181350"/>
            <a:ext cx="2629771" cy="35063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C72A2E1-93A4-887B-40DD-C9782B0FB3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1" y="76534"/>
            <a:ext cx="3636551" cy="484873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7578608-E1F3-74B9-E93E-6855A1FC1D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50468" y="247650"/>
            <a:ext cx="2831349" cy="29337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8FA69CB-1BC0-11F1-7AEE-57562E88A9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01" y="4956775"/>
            <a:ext cx="3516870" cy="18246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014537"/>
            <a:ext cx="52387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718369"/>
            <a:ext cx="5238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The brain of the system is the NodeMCU ESP8266, powered by 18650 Li-ion rechargeable batteries. Here is the pin mapping used in the code: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490269"/>
            <a:ext cx="52387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1" u="none">
                <a:solidFill>
                  <a:srgbClr val="475569"/>
                </a:solidFill>
                <a:latin typeface="Inter"/>
              </a:rPr>
              <a:t>Note: A master switch is installed to cut off battery power when not in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823269"/>
            <a:ext cx="4857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D5: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Buzzer (Output)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3356669"/>
            <a:ext cx="4857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D6: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Push Button (Input)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890069"/>
            <a:ext cx="4857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D7: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Servo Motor (PWM 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4423469"/>
            <a:ext cx="4857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D8: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LED Light (Output)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956869"/>
            <a:ext cx="4857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D1/D2: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I2C Communication for LCD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61369"/>
            <a:ext cx="17145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94769"/>
            <a:ext cx="17145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28169"/>
            <a:ext cx="17145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461569"/>
            <a:ext cx="17145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994969"/>
            <a:ext cx="171450" cy="2476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0284C7"/>
                </a:solidFill>
                <a:latin typeface="Poppins SemiBold"/>
              </a:rPr>
              <a:t>Circuit &amp; Connections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16AE82B-E2E1-589E-68B4-DB59536FB8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262" y="118170"/>
            <a:ext cx="4857749" cy="64769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52662"/>
            <a:ext cx="5238750" cy="3333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81750" y="1614487"/>
            <a:ext cx="55006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284C7"/>
                </a:solidFill>
                <a:latin typeface="Poppins SemiBold"/>
              </a:rPr>
              <a:t>Night-time Accessibility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1750" y="2157412"/>
            <a:ext cx="523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A bright LED array is mounted on the interior of the lid, connected directly to </a:t>
            </a:r>
            <a:r>
              <a:rPr sz="1500" b="1" i="0" u="none">
                <a:solidFill>
                  <a:srgbClr val="475569"/>
                </a:solidFill>
                <a:latin typeface="Inter"/>
              </a:rPr>
              <a:t>Pin D8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of the NodeMCU.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750" y="3100387"/>
            <a:ext cx="4857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Automated Trigger: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When the button is pressed and the servo opens the box, the code executes digitalWrite(light, HIGH).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2750" y="4243387"/>
            <a:ext cx="4857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Enhanced Visibility: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This feature is crucial for patients taking medication in low-light conditions or during the night.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0" y="5386387"/>
            <a:ext cx="4857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Energy Efficient: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The light automatically turns off (LOW) when the lid is commanded to close.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3138487"/>
            <a:ext cx="200025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4281487"/>
            <a:ext cx="257175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0" y="5424487"/>
            <a:ext cx="228600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0284C7"/>
                </a:solidFill>
                <a:latin typeface="Poppins SemiBold"/>
              </a:rPr>
              <a:t>Smart Illumination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BBB5C1-20BC-A7AE-ED44-CE19A7C20C1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98323" y="1154436"/>
            <a:ext cx="6041006" cy="30889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FB58DD0-4ED8-BBD5-66A1-E5CB3CE577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281487"/>
            <a:ext cx="5059985" cy="24842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05075"/>
            <a:ext cx="3492549" cy="2828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505075"/>
            <a:ext cx="3492549" cy="2828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505075"/>
            <a:ext cx="3492549" cy="2828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800350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562350"/>
            <a:ext cx="304709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Data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71925"/>
            <a:ext cx="29019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The code uses Virtual Pins to fetch comma-separated data from the Blynk App: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V0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(Names),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V1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(Times), and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V2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(Counts).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800350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5074" y="3562350"/>
            <a:ext cx="304709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Time Synchronization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971925"/>
            <a:ext cx="2901999" cy="923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Uses configTime() with NTP servers (pool.ntp.org) to keep accurate real-time. It constantly calculates the time difference to the next dose.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800350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3374" y="3562350"/>
            <a:ext cx="304709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Live Status Updates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971925"/>
            <a:ext cx="29019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The ESP8266 pushes updates back to the app via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V4/V5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(Next Med info) and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V6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(Missed/Taken status flag).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837" y="2952750"/>
            <a:ext cx="33337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7474" y="2952750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09111" y="2952750"/>
            <a:ext cx="20002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0284C7"/>
                </a:solidFill>
                <a:latin typeface="Poppins SemiBold"/>
              </a:rPr>
              <a:t>Software &amp; IoT Integration (Blynk)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299B59D-88ED-8E6A-81D0-DEBAB0217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03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330" y="3105150"/>
            <a:ext cx="3810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9010" y="3105150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1691" y="3105150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4371" y="3105150"/>
            <a:ext cx="381000" cy="38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47750" y="3900487"/>
            <a:ext cx="100965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0733" y="3676650"/>
            <a:ext cx="255219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F172A"/>
                </a:solidFill>
                <a:latin typeface="Poppins SemiBold"/>
              </a:rPr>
              <a:t>Schedule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057650"/>
            <a:ext cx="24306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Caregiver enters up to 4 medicine names, times, and initial pill counts in the Blynk App.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413" y="3676650"/>
            <a:ext cx="255219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F172A"/>
                </a:solidFill>
                <a:latin typeface="Poppins SemiBold"/>
              </a:rPr>
              <a:t>Time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4180" y="4057650"/>
            <a:ext cx="24306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Device syncs time. When real time matches the scheduled time, alarmActive becomes true.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6094" y="3676650"/>
            <a:ext cx="255219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F172A"/>
                </a:solidFill>
                <a:latin typeface="Poppins SemiBold"/>
              </a:rPr>
              <a:t>Alert 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6860" y="4057650"/>
            <a:ext cx="24306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Buzzer blinks every 500ms. LCD displays "MEDICINE TIME STARTED". Device waits for interaction.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8774" y="3676650"/>
            <a:ext cx="255219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F172A"/>
                </a:solidFill>
                <a:latin typeface="Poppins SemiBold"/>
              </a:rPr>
              <a:t>Action &amp; 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541" y="4057650"/>
            <a:ext cx="24306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User presses button. Buzzer stops, servo opens lid, LED turns on. Pill count decrements and syncs to App.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0284C7"/>
                </a:solidFill>
                <a:latin typeface="Poppins SemiBold"/>
              </a:rPr>
              <a:t>How It Works (Process Flow)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00" y="2624137"/>
            <a:ext cx="4857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Biometric Security:</a:t>
            </a:r>
            <a:r>
              <a:t>
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Integrating a fingerprint sensor to ensure only the authorized patient can open the medication box.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3767137"/>
            <a:ext cx="48577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Vision/Camera Integration:</a:t>
            </a:r>
            <a:r>
              <a:t>
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Adding an ESP32-CAM to visually verify that the patient actually ingested the medication, rather than just opening the box.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2750" y="2776537"/>
            <a:ext cx="4857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Battery Management:</a:t>
            </a:r>
            <a:r>
              <a:t>
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Implementing deep sleep modes for the ESP8266 to extend the 18650 battery life from days to months.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2750" y="3919537"/>
            <a:ext cx="4857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Voice Assistant Integration:</a:t>
            </a:r>
            <a:r>
              <a:t>
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Connecting the Blynk webhooks to Alexa or Google Assistant to announce the medicine name out loud.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62237"/>
            <a:ext cx="22860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05237"/>
            <a:ext cx="2286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2814637"/>
            <a:ext cx="25717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0" y="3957637"/>
            <a:ext cx="171450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0284C7"/>
                </a:solidFill>
                <a:latin typeface="Poppins SemiBold"/>
              </a:rPr>
              <a:t>Future Scope &amp; Enhancements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3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95437" y="2110680"/>
            <a:ext cx="90011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sz="6000" b="1" i="0" u="none">
                <a:solidFill>
                  <a:srgbClr val="0F172A"/>
                </a:solidFill>
                <a:latin typeface="Poppins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215580"/>
            <a:ext cx="857250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64748B"/>
                </a:solidFill>
                <a:latin typeface="Inter"/>
              </a:rPr>
              <a:t>Thank you for your attention.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AFFCB4-AE27-47A1-3001-EC8CD4384AFD}"/>
              </a:ext>
            </a:extLst>
          </p:cNvPr>
          <p:cNvSpPr txBox="1"/>
          <p:nvPr/>
        </p:nvSpPr>
        <p:spPr>
          <a:xfrm>
            <a:off x="2534854" y="5529805"/>
            <a:ext cx="8572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Build By </a:t>
            </a:r>
            <a:r>
              <a:rPr lang="en-IN" b="1" dirty="0"/>
              <a:t>-  ROHAN (24BEC104) , AFTAB (24BEC076) , DHRUV (24BEC032)</a:t>
            </a:r>
          </a:p>
          <a:p>
            <a:r>
              <a:rPr lang="en-IN" b="1" dirty="0"/>
              <a:t>		PRACHETUS (24BEC093) , SAMARTH (24BEC107</a:t>
            </a:r>
            <a:r>
              <a:rPr lang="en-IN" dirty="0"/>
              <a:t>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8E8F70-E400-4173-B7F1-93FE6158643B}"/>
              </a:ext>
            </a:extLst>
          </p:cNvPr>
          <p:cNvCxnSpPr/>
          <p:nvPr/>
        </p:nvCxnSpPr>
        <p:spPr>
          <a:xfrm>
            <a:off x="806370" y="5301205"/>
            <a:ext cx="1074130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AB68045-FD76-2D1C-3048-EE8FC0791A45}"/>
              </a:ext>
            </a:extLst>
          </p:cNvPr>
          <p:cNvSpPr txBox="1"/>
          <p:nvPr/>
        </p:nvSpPr>
        <p:spPr>
          <a:xfrm>
            <a:off x="1896378" y="4305782"/>
            <a:ext cx="857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NOTE : </a:t>
            </a:r>
            <a:r>
              <a:rPr lang="en-IN" dirty="0">
                <a:highlight>
                  <a:srgbClr val="FFFF00"/>
                </a:highlight>
              </a:rPr>
              <a:t>"One missed dose can cost your health. One smart reminder can protect it."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882</Words>
  <Application>Microsoft Office PowerPoint</Application>
  <PresentationFormat>Widescreen</PresentationFormat>
  <Paragraphs>84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Arial Black</vt:lpstr>
      <vt:lpstr>Calibri</vt:lpstr>
      <vt:lpstr>Inter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ROHAN PRUSTY</cp:lastModifiedBy>
  <cp:revision>5</cp:revision>
  <dcterms:created xsi:type="dcterms:W3CDTF">2013-01-27T09:14:16Z</dcterms:created>
  <dcterms:modified xsi:type="dcterms:W3CDTF">2026-08-04T21:53:16Z</dcterms:modified>
  <cp:category/>
</cp:coreProperties>
</file>